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EA4D1B-19D0-47B3-B4E4-3E12E11AC8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828CF9-98E1-4421-846A-0B568962A8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ACD93C-2192-4BB1-802B-2E345397C7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6C1711-7075-4211-9754-C88BA03460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1AE23D-0B5D-4315-BCC9-4225F24E21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2BF4A8-6AFF-4800-A69F-46B2EA9287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B29F64-5156-4582-9D61-356F16B55F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E30A45-7A70-45DA-885C-05A479C028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D6DFA1-3C68-4A24-B555-DDDD21BD67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166F24-D2FF-4DD3-B267-E742900F26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BC3D85-036B-402A-8A16-DBB9B5312E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502920" y="6446520"/>
            <a:ext cx="11155320" cy="8640"/>
          </a:xfrm>
          <a:prstGeom prst="rect">
            <a:avLst/>
          </a:prstGeom>
          <a:solidFill>
            <a:srgbClr val="4A46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8726C"/>
                </a:solidFill>
                <a:effectLst/>
                <a:uFillTx/>
                <a:latin typeface="Segoe UI"/>
              </a:rPr>
              <a:t>Quantstorm · New Eden Exchange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822960" y="7772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78726C"/>
                </a:solidFill>
                <a:effectLst/>
                <a:uFillTx/>
                <a:latin typeface="Segoe UI"/>
              </a:rPr>
              <a:t>QUANTSTORM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822960" y="1417320"/>
            <a:ext cx="2011320" cy="40680"/>
          </a:xfrm>
          <a:prstGeom prst="rect">
            <a:avLst/>
          </a:prstGeom>
          <a:solidFill>
            <a:srgbClr val="E86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822960" y="169164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2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New Eden Exchange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8"/>
          <p:cNvSpPr/>
          <p:nvPr/>
        </p:nvSpPr>
        <p:spPr>
          <a:xfrm>
            <a:off x="822960" y="34290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Final settlement · Directional scoring · Post-event adjustments applied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1"/>
          <p:cNvSpPr/>
          <p:nvPr/>
        </p:nvSpPr>
        <p:spPr>
          <a:xfrm>
            <a:off x="1051560" y="4709160"/>
            <a:ext cx="10058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2"/>
          <p:cNvSpPr/>
          <p:nvPr/>
        </p:nvSpPr>
        <p:spPr>
          <a:xfrm>
            <a:off x="502920" y="6446520"/>
            <a:ext cx="11155320" cy="8640"/>
          </a:xfrm>
          <a:prstGeom prst="rect">
            <a:avLst/>
          </a:prstGeom>
          <a:solidFill>
            <a:srgbClr val="4A46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8726C"/>
                </a:solidFill>
                <a:effectLst/>
                <a:uFillTx/>
                <a:latin typeface="Segoe UI"/>
              </a:rPr>
              <a:t>Quantstorm · #5 Pulkit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4"/>
          <p:cNvSpPr/>
          <p:nvPr/>
        </p:nvSpPr>
        <p:spPr>
          <a:xfrm>
            <a:off x="502920" y="502920"/>
            <a:ext cx="91080" cy="5806080"/>
          </a:xfrm>
          <a:prstGeom prst="rect">
            <a:avLst/>
          </a:prstGeom>
          <a:solidFill>
            <a:srgbClr val="8C42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5"/>
          <p:cNvSpPr/>
          <p:nvPr/>
        </p:nvSpPr>
        <p:spPr>
          <a:xfrm>
            <a:off x="685800" y="502920"/>
            <a:ext cx="11018160" cy="1234080"/>
          </a:xfrm>
          <a:prstGeom prst="rect">
            <a:avLst/>
          </a:prstGeom>
          <a:solidFill>
            <a:srgbClr val="2C2927"/>
          </a:solidFill>
          <a:ln>
            <a:solidFill>
              <a:srgbClr val="4A46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6"/>
          <p:cNvSpPr/>
          <p:nvPr/>
        </p:nvSpPr>
        <p:spPr>
          <a:xfrm>
            <a:off x="868680" y="567000"/>
            <a:ext cx="1279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C422E"/>
                </a:solidFill>
                <a:effectLst/>
                <a:uFillTx/>
                <a:latin typeface="Segoe UI"/>
              </a:rPr>
              <a:t>RANK 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7"/>
          <p:cNvSpPr/>
          <p:nvPr/>
        </p:nvSpPr>
        <p:spPr>
          <a:xfrm>
            <a:off x="868680" y="868680"/>
            <a:ext cx="1371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#5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8"/>
          <p:cNvSpPr/>
          <p:nvPr/>
        </p:nvSpPr>
        <p:spPr>
          <a:xfrm>
            <a:off x="2148840" y="804600"/>
            <a:ext cx="6857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Pulkit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9"/>
          <p:cNvSpPr/>
          <p:nvPr/>
        </p:nvSpPr>
        <p:spPr>
          <a:xfrm>
            <a:off x="2148840" y="135324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@pulkit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10"/>
          <p:cNvSpPr/>
          <p:nvPr/>
        </p:nvSpPr>
        <p:spPr>
          <a:xfrm>
            <a:off x="9006840" y="749880"/>
            <a:ext cx="2605680" cy="868320"/>
          </a:xfrm>
          <a:prstGeom prst="rect">
            <a:avLst/>
          </a:prstGeom>
          <a:solidFill>
            <a:srgbClr val="3E3A36"/>
          </a:solidFill>
          <a:ln>
            <a:solidFill>
              <a:srgbClr val="4A46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Settlement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5CC4A0"/>
                </a:solidFill>
                <a:effectLst/>
                <a:uFillTx/>
                <a:latin typeface="Segoe UI"/>
              </a:rPr>
              <a:t>+$349,453.54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11"/>
          <p:cNvSpPr/>
          <p:nvPr/>
        </p:nvSpPr>
        <p:spPr>
          <a:xfrm>
            <a:off x="685800" y="1874520"/>
            <a:ext cx="5348880" cy="4434480"/>
          </a:xfrm>
          <a:prstGeom prst="rect">
            <a:avLst/>
          </a:prstGeom>
          <a:solidFill>
            <a:srgbClr val="2C2927"/>
          </a:solidFill>
          <a:ln>
            <a:solidFill>
              <a:srgbClr val="4A46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2"/>
          <p:cNvSpPr/>
          <p:nvPr/>
        </p:nvSpPr>
        <p:spPr>
          <a:xfrm>
            <a:off x="868680" y="201168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86A4A"/>
                </a:solidFill>
                <a:effectLst/>
                <a:uFillTx/>
                <a:latin typeface="Segoe UI"/>
              </a:rPr>
              <a:t>Portfolio at close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3"/>
          <p:cNvSpPr/>
          <p:nvPr/>
        </p:nvSpPr>
        <p:spPr>
          <a:xfrm>
            <a:off x="868680" y="2377440"/>
            <a:ext cx="498312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Cash balance    +$349,453.54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No open equity positions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Standard Bond — coupons paid through close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14"/>
          <p:cNvSpPr/>
          <p:nvPr/>
        </p:nvSpPr>
        <p:spPr>
          <a:xfrm>
            <a:off x="6172200" y="1874520"/>
            <a:ext cx="5531760" cy="4434480"/>
          </a:xfrm>
          <a:prstGeom prst="rect">
            <a:avLst/>
          </a:prstGeom>
          <a:solidFill>
            <a:srgbClr val="2C2927"/>
          </a:solidFill>
          <a:ln>
            <a:solidFill>
              <a:srgbClr val="4A46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15"/>
          <p:cNvSpPr/>
          <p:nvPr/>
        </p:nvSpPr>
        <p:spPr>
          <a:xfrm>
            <a:off x="6355080" y="201168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86A4A"/>
                </a:solidFill>
                <a:effectLst/>
                <a:uFillTx/>
                <a:latin typeface="Segoe UI"/>
              </a:rPr>
              <a:t>Trading activity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16"/>
          <p:cNvSpPr/>
          <p:nvPr/>
        </p:nvSpPr>
        <p:spPr>
          <a:xfrm>
            <a:off x="6355080" y="2514600"/>
            <a:ext cx="5166000" cy="658080"/>
          </a:xfrm>
          <a:prstGeom prst="rect">
            <a:avLst/>
          </a:prstGeom>
          <a:solidFill>
            <a:srgbClr val="3532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7"/>
          <p:cNvSpPr/>
          <p:nvPr/>
        </p:nvSpPr>
        <p:spPr>
          <a:xfrm>
            <a:off x="6492240" y="25876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Trades executed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8"/>
          <p:cNvSpPr/>
          <p:nvPr/>
        </p:nvSpPr>
        <p:spPr>
          <a:xfrm>
            <a:off x="8412480" y="25603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449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19"/>
          <p:cNvSpPr/>
          <p:nvPr/>
        </p:nvSpPr>
        <p:spPr>
          <a:xfrm>
            <a:off x="6355080" y="3264480"/>
            <a:ext cx="5166000" cy="658080"/>
          </a:xfrm>
          <a:prstGeom prst="rect">
            <a:avLst/>
          </a:prstGeom>
          <a:solidFill>
            <a:srgbClr val="3532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20"/>
          <p:cNvSpPr/>
          <p:nvPr/>
        </p:nvSpPr>
        <p:spPr>
          <a:xfrm>
            <a:off x="6492240" y="3337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Volume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1"/>
          <p:cNvSpPr/>
          <p:nvPr/>
        </p:nvSpPr>
        <p:spPr>
          <a:xfrm>
            <a:off x="8412480" y="33102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4,892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22"/>
          <p:cNvSpPr/>
          <p:nvPr/>
        </p:nvSpPr>
        <p:spPr>
          <a:xfrm>
            <a:off x="6355080" y="4014360"/>
            <a:ext cx="5166000" cy="658080"/>
          </a:xfrm>
          <a:prstGeom prst="rect">
            <a:avLst/>
          </a:prstGeom>
          <a:solidFill>
            <a:srgbClr val="3532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23"/>
          <p:cNvSpPr/>
          <p:nvPr/>
        </p:nvSpPr>
        <p:spPr>
          <a:xfrm>
            <a:off x="6492240" y="408744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Realized PnL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4"/>
          <p:cNvSpPr/>
          <p:nvPr/>
        </p:nvSpPr>
        <p:spPr>
          <a:xfrm>
            <a:off x="8412480" y="40600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+$87,217.26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25"/>
          <p:cNvSpPr/>
          <p:nvPr/>
        </p:nvSpPr>
        <p:spPr>
          <a:xfrm>
            <a:off x="6355080" y="4763880"/>
            <a:ext cx="5166000" cy="658080"/>
          </a:xfrm>
          <a:prstGeom prst="rect">
            <a:avLst/>
          </a:prstGeom>
          <a:solidFill>
            <a:srgbClr val="3532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26"/>
          <p:cNvSpPr/>
          <p:nvPr/>
        </p:nvSpPr>
        <p:spPr>
          <a:xfrm>
            <a:off x="6492240" y="48373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Spread capture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7"/>
          <p:cNvSpPr/>
          <p:nvPr/>
        </p:nvSpPr>
        <p:spPr>
          <a:xfrm>
            <a:off x="8412480" y="48096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+$131,299.33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ectangle 2"/>
          <p:cNvSpPr/>
          <p:nvPr/>
        </p:nvSpPr>
        <p:spPr>
          <a:xfrm>
            <a:off x="502920" y="6446520"/>
            <a:ext cx="11155320" cy="8640"/>
          </a:xfrm>
          <a:prstGeom prst="rect">
            <a:avLst/>
          </a:prstGeom>
          <a:solidFill>
            <a:srgbClr val="4A46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8726C"/>
                </a:solidFill>
                <a:effectLst/>
                <a:uFillTx/>
                <a:latin typeface="Segoe UI"/>
              </a:rPr>
              <a:t>Quantstorm · #4 Namya Sheth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4"/>
          <p:cNvSpPr/>
          <p:nvPr/>
        </p:nvSpPr>
        <p:spPr>
          <a:xfrm>
            <a:off x="502920" y="502920"/>
            <a:ext cx="91080" cy="5806080"/>
          </a:xfrm>
          <a:prstGeom prst="rect">
            <a:avLst/>
          </a:prstGeom>
          <a:solidFill>
            <a:srgbClr val="8C42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Rectangle 5"/>
          <p:cNvSpPr/>
          <p:nvPr/>
        </p:nvSpPr>
        <p:spPr>
          <a:xfrm>
            <a:off x="685800" y="502920"/>
            <a:ext cx="11018160" cy="1234080"/>
          </a:xfrm>
          <a:prstGeom prst="rect">
            <a:avLst/>
          </a:prstGeom>
          <a:solidFill>
            <a:srgbClr val="2C2927"/>
          </a:solidFill>
          <a:ln>
            <a:solidFill>
              <a:srgbClr val="4A46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6"/>
          <p:cNvSpPr/>
          <p:nvPr/>
        </p:nvSpPr>
        <p:spPr>
          <a:xfrm>
            <a:off x="868680" y="567000"/>
            <a:ext cx="1279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8C422E"/>
                </a:solidFill>
                <a:effectLst/>
                <a:uFillTx/>
                <a:latin typeface="Segoe UI"/>
              </a:rPr>
              <a:t>RANK 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7"/>
          <p:cNvSpPr/>
          <p:nvPr/>
        </p:nvSpPr>
        <p:spPr>
          <a:xfrm>
            <a:off x="868680" y="868680"/>
            <a:ext cx="1371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#4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8"/>
          <p:cNvSpPr/>
          <p:nvPr/>
        </p:nvSpPr>
        <p:spPr>
          <a:xfrm>
            <a:off x="2148840" y="804600"/>
            <a:ext cx="6857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Namya Sheth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9"/>
          <p:cNvSpPr/>
          <p:nvPr/>
        </p:nvSpPr>
        <p:spPr>
          <a:xfrm>
            <a:off x="2148840" y="135324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@namyasheth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10"/>
          <p:cNvSpPr/>
          <p:nvPr/>
        </p:nvSpPr>
        <p:spPr>
          <a:xfrm>
            <a:off x="9006840" y="749880"/>
            <a:ext cx="2605680" cy="868320"/>
          </a:xfrm>
          <a:prstGeom prst="rect">
            <a:avLst/>
          </a:prstGeom>
          <a:solidFill>
            <a:srgbClr val="3E3A36"/>
          </a:solidFill>
          <a:ln>
            <a:solidFill>
              <a:srgbClr val="4A46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Settlement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5CC4A0"/>
                </a:solidFill>
                <a:effectLst/>
                <a:uFillTx/>
                <a:latin typeface="Segoe UI"/>
              </a:rPr>
              <a:t>+$350,464.11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11"/>
          <p:cNvSpPr/>
          <p:nvPr/>
        </p:nvSpPr>
        <p:spPr>
          <a:xfrm>
            <a:off x="685800" y="1874520"/>
            <a:ext cx="5348880" cy="4434480"/>
          </a:xfrm>
          <a:prstGeom prst="rect">
            <a:avLst/>
          </a:prstGeom>
          <a:solidFill>
            <a:srgbClr val="2C2927"/>
          </a:solidFill>
          <a:ln>
            <a:solidFill>
              <a:srgbClr val="4A46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12"/>
          <p:cNvSpPr/>
          <p:nvPr/>
        </p:nvSpPr>
        <p:spPr>
          <a:xfrm>
            <a:off x="868680" y="201168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86A4A"/>
                </a:solidFill>
                <a:effectLst/>
                <a:uFillTx/>
                <a:latin typeface="Segoe UI"/>
              </a:rPr>
              <a:t>Portfolio at close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3"/>
          <p:cNvSpPr/>
          <p:nvPr/>
        </p:nvSpPr>
        <p:spPr>
          <a:xfrm>
            <a:off x="868680" y="2377440"/>
            <a:ext cx="498312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Cash balance    +$308,890.11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ORBITAL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  5 long  ·  mid 2,655.00  ·  +$13,275.00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AERIUM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  30 long  ·  mid 993.00  ·  +$29,790.00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NEURO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  -2 short  ·  mid 745.50  ·  -$1,491.00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Standard Bond — coupons paid through close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14"/>
          <p:cNvSpPr/>
          <p:nvPr/>
        </p:nvSpPr>
        <p:spPr>
          <a:xfrm>
            <a:off x="6172200" y="1874520"/>
            <a:ext cx="5531760" cy="4434480"/>
          </a:xfrm>
          <a:prstGeom prst="rect">
            <a:avLst/>
          </a:prstGeom>
          <a:solidFill>
            <a:srgbClr val="2C2927"/>
          </a:solidFill>
          <a:ln>
            <a:solidFill>
              <a:srgbClr val="4A46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5"/>
          <p:cNvSpPr/>
          <p:nvPr/>
        </p:nvSpPr>
        <p:spPr>
          <a:xfrm>
            <a:off x="6355080" y="201168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86A4A"/>
                </a:solidFill>
                <a:effectLst/>
                <a:uFillTx/>
                <a:latin typeface="Segoe UI"/>
              </a:rPr>
              <a:t>Trading activity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16"/>
          <p:cNvSpPr/>
          <p:nvPr/>
        </p:nvSpPr>
        <p:spPr>
          <a:xfrm>
            <a:off x="6355080" y="2514600"/>
            <a:ext cx="5166000" cy="658080"/>
          </a:xfrm>
          <a:prstGeom prst="rect">
            <a:avLst/>
          </a:prstGeom>
          <a:solidFill>
            <a:srgbClr val="3532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7"/>
          <p:cNvSpPr/>
          <p:nvPr/>
        </p:nvSpPr>
        <p:spPr>
          <a:xfrm>
            <a:off x="6492240" y="25876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Trades executed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8"/>
          <p:cNvSpPr/>
          <p:nvPr/>
        </p:nvSpPr>
        <p:spPr>
          <a:xfrm>
            <a:off x="8412480" y="25603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120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19"/>
          <p:cNvSpPr/>
          <p:nvPr/>
        </p:nvSpPr>
        <p:spPr>
          <a:xfrm>
            <a:off x="6355080" y="3264480"/>
            <a:ext cx="5166000" cy="658080"/>
          </a:xfrm>
          <a:prstGeom prst="rect">
            <a:avLst/>
          </a:prstGeom>
          <a:solidFill>
            <a:srgbClr val="3532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20"/>
          <p:cNvSpPr/>
          <p:nvPr/>
        </p:nvSpPr>
        <p:spPr>
          <a:xfrm>
            <a:off x="6492240" y="3337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Volume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1"/>
          <p:cNvSpPr/>
          <p:nvPr/>
        </p:nvSpPr>
        <p:spPr>
          <a:xfrm>
            <a:off x="8412480" y="33102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915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22"/>
          <p:cNvSpPr/>
          <p:nvPr/>
        </p:nvSpPr>
        <p:spPr>
          <a:xfrm>
            <a:off x="6355080" y="4014360"/>
            <a:ext cx="5166000" cy="658080"/>
          </a:xfrm>
          <a:prstGeom prst="rect">
            <a:avLst/>
          </a:prstGeom>
          <a:solidFill>
            <a:srgbClr val="3532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23"/>
          <p:cNvSpPr/>
          <p:nvPr/>
        </p:nvSpPr>
        <p:spPr>
          <a:xfrm>
            <a:off x="6492240" y="408744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Realized PnL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24"/>
          <p:cNvSpPr/>
          <p:nvPr/>
        </p:nvSpPr>
        <p:spPr>
          <a:xfrm>
            <a:off x="8412480" y="40600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+$13,138.84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25"/>
          <p:cNvSpPr/>
          <p:nvPr/>
        </p:nvSpPr>
        <p:spPr>
          <a:xfrm>
            <a:off x="6355080" y="4763880"/>
            <a:ext cx="5166000" cy="658080"/>
          </a:xfrm>
          <a:prstGeom prst="rect">
            <a:avLst/>
          </a:prstGeom>
          <a:solidFill>
            <a:srgbClr val="3532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26"/>
          <p:cNvSpPr/>
          <p:nvPr/>
        </p:nvSpPr>
        <p:spPr>
          <a:xfrm>
            <a:off x="6492240" y="48373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Spread capture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7"/>
          <p:cNvSpPr/>
          <p:nvPr/>
        </p:nvSpPr>
        <p:spPr>
          <a:xfrm>
            <a:off x="8412480" y="48096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+$48,432.60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ectangle 2"/>
          <p:cNvSpPr/>
          <p:nvPr/>
        </p:nvSpPr>
        <p:spPr>
          <a:xfrm>
            <a:off x="502920" y="6446520"/>
            <a:ext cx="11155320" cy="8640"/>
          </a:xfrm>
          <a:prstGeom prst="rect">
            <a:avLst/>
          </a:prstGeom>
          <a:solidFill>
            <a:srgbClr val="4A46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8726C"/>
                </a:solidFill>
                <a:effectLst/>
                <a:uFillTx/>
                <a:latin typeface="Segoe UI"/>
              </a:rPr>
              <a:t>Quantstorm · #3 Satyam Kumar Singh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4"/>
          <p:cNvSpPr/>
          <p:nvPr/>
        </p:nvSpPr>
        <p:spPr>
          <a:xfrm>
            <a:off x="502920" y="502920"/>
            <a:ext cx="91080" cy="5806080"/>
          </a:xfrm>
          <a:prstGeom prst="rect">
            <a:avLst/>
          </a:prstGeom>
          <a:solidFill>
            <a:srgbClr val="C98A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angle 5"/>
          <p:cNvSpPr/>
          <p:nvPr/>
        </p:nvSpPr>
        <p:spPr>
          <a:xfrm>
            <a:off x="685800" y="502920"/>
            <a:ext cx="11018160" cy="1234080"/>
          </a:xfrm>
          <a:prstGeom prst="rect">
            <a:avLst/>
          </a:prstGeom>
          <a:solidFill>
            <a:srgbClr val="2C2927"/>
          </a:solidFill>
          <a:ln>
            <a:solidFill>
              <a:srgbClr val="4A46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6"/>
          <p:cNvSpPr/>
          <p:nvPr/>
        </p:nvSpPr>
        <p:spPr>
          <a:xfrm>
            <a:off x="868680" y="567000"/>
            <a:ext cx="1279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98A5C"/>
                </a:solidFill>
                <a:effectLst/>
                <a:uFillTx/>
                <a:latin typeface="Segoe UI"/>
              </a:rPr>
              <a:t>THIRD PLACE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7"/>
          <p:cNvSpPr/>
          <p:nvPr/>
        </p:nvSpPr>
        <p:spPr>
          <a:xfrm>
            <a:off x="868680" y="868680"/>
            <a:ext cx="1371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#3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8"/>
          <p:cNvSpPr/>
          <p:nvPr/>
        </p:nvSpPr>
        <p:spPr>
          <a:xfrm>
            <a:off x="2148840" y="804600"/>
            <a:ext cx="6857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Satyam Kumar Singh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9"/>
          <p:cNvSpPr/>
          <p:nvPr/>
        </p:nvSpPr>
        <p:spPr>
          <a:xfrm>
            <a:off x="2148840" y="135324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@satyamkumarsingh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10"/>
          <p:cNvSpPr/>
          <p:nvPr/>
        </p:nvSpPr>
        <p:spPr>
          <a:xfrm>
            <a:off x="9006840" y="749880"/>
            <a:ext cx="2605680" cy="868320"/>
          </a:xfrm>
          <a:prstGeom prst="rect">
            <a:avLst/>
          </a:prstGeom>
          <a:solidFill>
            <a:srgbClr val="3E3A36"/>
          </a:solidFill>
          <a:ln>
            <a:solidFill>
              <a:srgbClr val="4A46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Settlement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5CC4A0"/>
                </a:solidFill>
                <a:effectLst/>
                <a:uFillTx/>
                <a:latin typeface="Segoe UI"/>
              </a:rPr>
              <a:t>+$396,800.65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11"/>
          <p:cNvSpPr/>
          <p:nvPr/>
        </p:nvSpPr>
        <p:spPr>
          <a:xfrm>
            <a:off x="685800" y="1874520"/>
            <a:ext cx="5348880" cy="4434480"/>
          </a:xfrm>
          <a:prstGeom prst="rect">
            <a:avLst/>
          </a:prstGeom>
          <a:solidFill>
            <a:srgbClr val="2C2927"/>
          </a:solidFill>
          <a:ln>
            <a:solidFill>
              <a:srgbClr val="4A46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12"/>
          <p:cNvSpPr/>
          <p:nvPr/>
        </p:nvSpPr>
        <p:spPr>
          <a:xfrm>
            <a:off x="868680" y="201168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86A4A"/>
                </a:solidFill>
                <a:effectLst/>
                <a:uFillTx/>
                <a:latin typeface="Segoe UI"/>
              </a:rPr>
              <a:t>Portfolio at close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3"/>
          <p:cNvSpPr/>
          <p:nvPr/>
        </p:nvSpPr>
        <p:spPr>
          <a:xfrm>
            <a:off x="868680" y="2377440"/>
            <a:ext cx="498312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Cash balance    +$396,800.65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No open equity positions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Standard Bond — coupons paid through close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14"/>
          <p:cNvSpPr/>
          <p:nvPr/>
        </p:nvSpPr>
        <p:spPr>
          <a:xfrm>
            <a:off x="6172200" y="1874520"/>
            <a:ext cx="5531760" cy="4434480"/>
          </a:xfrm>
          <a:prstGeom prst="rect">
            <a:avLst/>
          </a:prstGeom>
          <a:solidFill>
            <a:srgbClr val="2C2927"/>
          </a:solidFill>
          <a:ln>
            <a:solidFill>
              <a:srgbClr val="4A46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15"/>
          <p:cNvSpPr/>
          <p:nvPr/>
        </p:nvSpPr>
        <p:spPr>
          <a:xfrm>
            <a:off x="6355080" y="201168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86A4A"/>
                </a:solidFill>
                <a:effectLst/>
                <a:uFillTx/>
                <a:latin typeface="Segoe UI"/>
              </a:rPr>
              <a:t>Trading activity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16"/>
          <p:cNvSpPr/>
          <p:nvPr/>
        </p:nvSpPr>
        <p:spPr>
          <a:xfrm>
            <a:off x="6355080" y="2514600"/>
            <a:ext cx="5166000" cy="658080"/>
          </a:xfrm>
          <a:prstGeom prst="rect">
            <a:avLst/>
          </a:prstGeom>
          <a:solidFill>
            <a:srgbClr val="3532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17"/>
          <p:cNvSpPr/>
          <p:nvPr/>
        </p:nvSpPr>
        <p:spPr>
          <a:xfrm>
            <a:off x="6492240" y="25876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Trades executed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8"/>
          <p:cNvSpPr/>
          <p:nvPr/>
        </p:nvSpPr>
        <p:spPr>
          <a:xfrm>
            <a:off x="8412480" y="25603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72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19"/>
          <p:cNvSpPr/>
          <p:nvPr/>
        </p:nvSpPr>
        <p:spPr>
          <a:xfrm>
            <a:off x="6355080" y="3264480"/>
            <a:ext cx="5166000" cy="658080"/>
          </a:xfrm>
          <a:prstGeom prst="rect">
            <a:avLst/>
          </a:prstGeom>
          <a:solidFill>
            <a:srgbClr val="3532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20"/>
          <p:cNvSpPr/>
          <p:nvPr/>
        </p:nvSpPr>
        <p:spPr>
          <a:xfrm>
            <a:off x="6492240" y="3337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Volume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21"/>
          <p:cNvSpPr/>
          <p:nvPr/>
        </p:nvSpPr>
        <p:spPr>
          <a:xfrm>
            <a:off x="8412480" y="33102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858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22"/>
          <p:cNvSpPr/>
          <p:nvPr/>
        </p:nvSpPr>
        <p:spPr>
          <a:xfrm>
            <a:off x="6355080" y="4014360"/>
            <a:ext cx="5166000" cy="658080"/>
          </a:xfrm>
          <a:prstGeom prst="rect">
            <a:avLst/>
          </a:prstGeom>
          <a:solidFill>
            <a:srgbClr val="3532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23"/>
          <p:cNvSpPr/>
          <p:nvPr/>
        </p:nvSpPr>
        <p:spPr>
          <a:xfrm>
            <a:off x="6492240" y="408744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Realized PnL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4"/>
          <p:cNvSpPr/>
          <p:nvPr/>
        </p:nvSpPr>
        <p:spPr>
          <a:xfrm>
            <a:off x="8412480" y="40600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-$34,238.75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25"/>
          <p:cNvSpPr/>
          <p:nvPr/>
        </p:nvSpPr>
        <p:spPr>
          <a:xfrm>
            <a:off x="6355080" y="4763880"/>
            <a:ext cx="5166000" cy="658080"/>
          </a:xfrm>
          <a:prstGeom prst="rect">
            <a:avLst/>
          </a:prstGeom>
          <a:solidFill>
            <a:srgbClr val="3532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26"/>
          <p:cNvSpPr/>
          <p:nvPr/>
        </p:nvSpPr>
        <p:spPr>
          <a:xfrm>
            <a:off x="6492240" y="48373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Spread capture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7"/>
          <p:cNvSpPr/>
          <p:nvPr/>
        </p:nvSpPr>
        <p:spPr>
          <a:xfrm>
            <a:off x="8412480" y="48096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+$767.50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2"/>
          <p:cNvSpPr/>
          <p:nvPr/>
        </p:nvSpPr>
        <p:spPr>
          <a:xfrm>
            <a:off x="502920" y="6446520"/>
            <a:ext cx="11155320" cy="8640"/>
          </a:xfrm>
          <a:prstGeom prst="rect">
            <a:avLst/>
          </a:prstGeom>
          <a:solidFill>
            <a:srgbClr val="4A46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8726C"/>
                </a:solidFill>
                <a:effectLst/>
                <a:uFillTx/>
                <a:latin typeface="Segoe UI"/>
              </a:rPr>
              <a:t>Quantstorm · #2 Supratik Biswas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4"/>
          <p:cNvSpPr/>
          <p:nvPr/>
        </p:nvSpPr>
        <p:spPr>
          <a:xfrm>
            <a:off x="502920" y="502920"/>
            <a:ext cx="91080" cy="5806080"/>
          </a:xfrm>
          <a:prstGeom prst="rect">
            <a:avLst/>
          </a:prstGeom>
          <a:solidFill>
            <a:srgbClr val="C8CCD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ectangle 5"/>
          <p:cNvSpPr/>
          <p:nvPr/>
        </p:nvSpPr>
        <p:spPr>
          <a:xfrm>
            <a:off x="685800" y="502920"/>
            <a:ext cx="11018160" cy="1234080"/>
          </a:xfrm>
          <a:prstGeom prst="rect">
            <a:avLst/>
          </a:prstGeom>
          <a:solidFill>
            <a:srgbClr val="2C2927"/>
          </a:solidFill>
          <a:ln>
            <a:solidFill>
              <a:srgbClr val="4A46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6"/>
          <p:cNvSpPr/>
          <p:nvPr/>
        </p:nvSpPr>
        <p:spPr>
          <a:xfrm>
            <a:off x="868680" y="567000"/>
            <a:ext cx="1279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C8CCD0"/>
                </a:solidFill>
                <a:effectLst/>
                <a:uFillTx/>
                <a:latin typeface="Segoe UI"/>
              </a:rPr>
              <a:t>RUNNER-UP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7"/>
          <p:cNvSpPr/>
          <p:nvPr/>
        </p:nvSpPr>
        <p:spPr>
          <a:xfrm>
            <a:off x="868680" y="868680"/>
            <a:ext cx="1371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#2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8"/>
          <p:cNvSpPr/>
          <p:nvPr/>
        </p:nvSpPr>
        <p:spPr>
          <a:xfrm>
            <a:off x="2148840" y="804600"/>
            <a:ext cx="6857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Supratik Biswas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9"/>
          <p:cNvSpPr/>
          <p:nvPr/>
        </p:nvSpPr>
        <p:spPr>
          <a:xfrm>
            <a:off x="2148840" y="135324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@supratikbiswas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10"/>
          <p:cNvSpPr/>
          <p:nvPr/>
        </p:nvSpPr>
        <p:spPr>
          <a:xfrm>
            <a:off x="9006840" y="749880"/>
            <a:ext cx="2605680" cy="868320"/>
          </a:xfrm>
          <a:prstGeom prst="rect">
            <a:avLst/>
          </a:prstGeom>
          <a:solidFill>
            <a:srgbClr val="3E3A36"/>
          </a:solidFill>
          <a:ln>
            <a:solidFill>
              <a:srgbClr val="4A46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Settlement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5CC4A0"/>
                </a:solidFill>
                <a:effectLst/>
                <a:uFillTx/>
                <a:latin typeface="Segoe UI"/>
              </a:rPr>
              <a:t>+$444,829.74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11"/>
          <p:cNvSpPr/>
          <p:nvPr/>
        </p:nvSpPr>
        <p:spPr>
          <a:xfrm>
            <a:off x="685800" y="1874520"/>
            <a:ext cx="5348880" cy="4434480"/>
          </a:xfrm>
          <a:prstGeom prst="rect">
            <a:avLst/>
          </a:prstGeom>
          <a:solidFill>
            <a:srgbClr val="2C2927"/>
          </a:solidFill>
          <a:ln>
            <a:solidFill>
              <a:srgbClr val="4A46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12"/>
          <p:cNvSpPr/>
          <p:nvPr/>
        </p:nvSpPr>
        <p:spPr>
          <a:xfrm>
            <a:off x="868680" y="201168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86A4A"/>
                </a:solidFill>
                <a:effectLst/>
                <a:uFillTx/>
                <a:latin typeface="Segoe UI"/>
              </a:rPr>
              <a:t>Portfolio at close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3"/>
          <p:cNvSpPr/>
          <p:nvPr/>
        </p:nvSpPr>
        <p:spPr>
          <a:xfrm>
            <a:off x="868680" y="2377440"/>
            <a:ext cx="498312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Cash balance    +$444,829.74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No open equity positions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Standard Bond — coupons paid through close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14"/>
          <p:cNvSpPr/>
          <p:nvPr/>
        </p:nvSpPr>
        <p:spPr>
          <a:xfrm>
            <a:off x="6172200" y="1874520"/>
            <a:ext cx="5531760" cy="4434480"/>
          </a:xfrm>
          <a:prstGeom prst="rect">
            <a:avLst/>
          </a:prstGeom>
          <a:solidFill>
            <a:srgbClr val="2C2927"/>
          </a:solidFill>
          <a:ln>
            <a:solidFill>
              <a:srgbClr val="4A46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15"/>
          <p:cNvSpPr/>
          <p:nvPr/>
        </p:nvSpPr>
        <p:spPr>
          <a:xfrm>
            <a:off x="6355080" y="201168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86A4A"/>
                </a:solidFill>
                <a:effectLst/>
                <a:uFillTx/>
                <a:latin typeface="Segoe UI"/>
              </a:rPr>
              <a:t>Trading activity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16"/>
          <p:cNvSpPr/>
          <p:nvPr/>
        </p:nvSpPr>
        <p:spPr>
          <a:xfrm>
            <a:off x="6355080" y="2514600"/>
            <a:ext cx="5166000" cy="658080"/>
          </a:xfrm>
          <a:prstGeom prst="rect">
            <a:avLst/>
          </a:prstGeom>
          <a:solidFill>
            <a:srgbClr val="3532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17"/>
          <p:cNvSpPr/>
          <p:nvPr/>
        </p:nvSpPr>
        <p:spPr>
          <a:xfrm>
            <a:off x="6492240" y="25876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Trades executed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8"/>
          <p:cNvSpPr/>
          <p:nvPr/>
        </p:nvSpPr>
        <p:spPr>
          <a:xfrm>
            <a:off x="8412480" y="25603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270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19"/>
          <p:cNvSpPr/>
          <p:nvPr/>
        </p:nvSpPr>
        <p:spPr>
          <a:xfrm>
            <a:off x="6355080" y="3264480"/>
            <a:ext cx="5166000" cy="658080"/>
          </a:xfrm>
          <a:prstGeom prst="rect">
            <a:avLst/>
          </a:prstGeom>
          <a:solidFill>
            <a:srgbClr val="3532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20"/>
          <p:cNvSpPr/>
          <p:nvPr/>
        </p:nvSpPr>
        <p:spPr>
          <a:xfrm>
            <a:off x="6492240" y="3337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Volume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1"/>
          <p:cNvSpPr/>
          <p:nvPr/>
        </p:nvSpPr>
        <p:spPr>
          <a:xfrm>
            <a:off x="8412480" y="33102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1,552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22"/>
          <p:cNvSpPr/>
          <p:nvPr/>
        </p:nvSpPr>
        <p:spPr>
          <a:xfrm>
            <a:off x="6355080" y="4014360"/>
            <a:ext cx="5166000" cy="658080"/>
          </a:xfrm>
          <a:prstGeom prst="rect">
            <a:avLst/>
          </a:prstGeom>
          <a:solidFill>
            <a:srgbClr val="3532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23"/>
          <p:cNvSpPr/>
          <p:nvPr/>
        </p:nvSpPr>
        <p:spPr>
          <a:xfrm>
            <a:off x="6492240" y="408744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Realized PnL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24"/>
          <p:cNvSpPr/>
          <p:nvPr/>
        </p:nvSpPr>
        <p:spPr>
          <a:xfrm>
            <a:off x="8412480" y="40600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-$41,146.58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25"/>
          <p:cNvSpPr/>
          <p:nvPr/>
        </p:nvSpPr>
        <p:spPr>
          <a:xfrm>
            <a:off x="6355080" y="4763880"/>
            <a:ext cx="5166000" cy="658080"/>
          </a:xfrm>
          <a:prstGeom prst="rect">
            <a:avLst/>
          </a:prstGeom>
          <a:solidFill>
            <a:srgbClr val="3532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26"/>
          <p:cNvSpPr/>
          <p:nvPr/>
        </p:nvSpPr>
        <p:spPr>
          <a:xfrm>
            <a:off x="6492240" y="48373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Spread capture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27"/>
          <p:cNvSpPr/>
          <p:nvPr/>
        </p:nvSpPr>
        <p:spPr>
          <a:xfrm>
            <a:off x="8412480" y="48096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+$2,859.00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ectangle 2"/>
          <p:cNvSpPr/>
          <p:nvPr/>
        </p:nvSpPr>
        <p:spPr>
          <a:xfrm>
            <a:off x="502920" y="6446520"/>
            <a:ext cx="11155320" cy="8640"/>
          </a:xfrm>
          <a:prstGeom prst="rect">
            <a:avLst/>
          </a:prstGeom>
          <a:solidFill>
            <a:srgbClr val="4A46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3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8726C"/>
                </a:solidFill>
                <a:effectLst/>
                <a:uFillTx/>
                <a:latin typeface="Segoe UI"/>
              </a:rPr>
              <a:t>Quantstorm · #1 Anav Agrawal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4"/>
          <p:cNvSpPr/>
          <p:nvPr/>
        </p:nvSpPr>
        <p:spPr>
          <a:xfrm>
            <a:off x="502920" y="502920"/>
            <a:ext cx="91080" cy="5806080"/>
          </a:xfrm>
          <a:prstGeom prst="rect">
            <a:avLst/>
          </a:prstGeom>
          <a:solidFill>
            <a:srgbClr val="E86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Rectangle 5"/>
          <p:cNvSpPr/>
          <p:nvPr/>
        </p:nvSpPr>
        <p:spPr>
          <a:xfrm>
            <a:off x="685800" y="502920"/>
            <a:ext cx="11018160" cy="1234080"/>
          </a:xfrm>
          <a:prstGeom prst="rect">
            <a:avLst/>
          </a:prstGeom>
          <a:solidFill>
            <a:srgbClr val="2C2927"/>
          </a:solidFill>
          <a:ln>
            <a:solidFill>
              <a:srgbClr val="4A46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6"/>
          <p:cNvSpPr/>
          <p:nvPr/>
        </p:nvSpPr>
        <p:spPr>
          <a:xfrm>
            <a:off x="868680" y="567000"/>
            <a:ext cx="1279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86A4A"/>
                </a:solidFill>
                <a:effectLst/>
                <a:uFillTx/>
                <a:latin typeface="Segoe UI"/>
              </a:rPr>
              <a:t>CHAMPION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7"/>
          <p:cNvSpPr/>
          <p:nvPr/>
        </p:nvSpPr>
        <p:spPr>
          <a:xfrm>
            <a:off x="868680" y="868680"/>
            <a:ext cx="1371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#1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8"/>
          <p:cNvSpPr/>
          <p:nvPr/>
        </p:nvSpPr>
        <p:spPr>
          <a:xfrm>
            <a:off x="2148840" y="804600"/>
            <a:ext cx="6857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Anav Agrawal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9"/>
          <p:cNvSpPr/>
          <p:nvPr/>
        </p:nvSpPr>
        <p:spPr>
          <a:xfrm>
            <a:off x="2148840" y="135324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@anavagrawal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10"/>
          <p:cNvSpPr/>
          <p:nvPr/>
        </p:nvSpPr>
        <p:spPr>
          <a:xfrm>
            <a:off x="9006840" y="749880"/>
            <a:ext cx="2605680" cy="868320"/>
          </a:xfrm>
          <a:prstGeom prst="rect">
            <a:avLst/>
          </a:prstGeom>
          <a:solidFill>
            <a:srgbClr val="3E3A36"/>
          </a:solidFill>
          <a:ln>
            <a:solidFill>
              <a:srgbClr val="4A46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Settlement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5CC4A0"/>
                </a:solidFill>
                <a:effectLst/>
                <a:uFillTx/>
                <a:latin typeface="Segoe UI"/>
              </a:rPr>
              <a:t>+$499,595.28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11"/>
          <p:cNvSpPr/>
          <p:nvPr/>
        </p:nvSpPr>
        <p:spPr>
          <a:xfrm>
            <a:off x="685800" y="1874520"/>
            <a:ext cx="5348880" cy="4434480"/>
          </a:xfrm>
          <a:prstGeom prst="rect">
            <a:avLst/>
          </a:prstGeom>
          <a:solidFill>
            <a:srgbClr val="2C2927"/>
          </a:solidFill>
          <a:ln>
            <a:solidFill>
              <a:srgbClr val="4A46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12"/>
          <p:cNvSpPr/>
          <p:nvPr/>
        </p:nvSpPr>
        <p:spPr>
          <a:xfrm>
            <a:off x="868680" y="201168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86A4A"/>
                </a:solidFill>
                <a:effectLst/>
                <a:uFillTx/>
                <a:latin typeface="Segoe UI"/>
              </a:rPr>
              <a:t>Portfolio at close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3"/>
          <p:cNvSpPr/>
          <p:nvPr/>
        </p:nvSpPr>
        <p:spPr>
          <a:xfrm>
            <a:off x="868680" y="2377440"/>
            <a:ext cx="498312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Cash balance    +$499,595.28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No open equity positions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Standard Bond — coupons paid through close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14"/>
          <p:cNvSpPr/>
          <p:nvPr/>
        </p:nvSpPr>
        <p:spPr>
          <a:xfrm>
            <a:off x="6172200" y="1874520"/>
            <a:ext cx="5531760" cy="4434480"/>
          </a:xfrm>
          <a:prstGeom prst="rect">
            <a:avLst/>
          </a:prstGeom>
          <a:solidFill>
            <a:srgbClr val="2C2927"/>
          </a:solidFill>
          <a:ln>
            <a:solidFill>
              <a:srgbClr val="4A46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15"/>
          <p:cNvSpPr/>
          <p:nvPr/>
        </p:nvSpPr>
        <p:spPr>
          <a:xfrm>
            <a:off x="6355080" y="201168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E86A4A"/>
                </a:solidFill>
                <a:effectLst/>
                <a:uFillTx/>
                <a:latin typeface="Segoe UI"/>
              </a:rPr>
              <a:t>Trading activity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16"/>
          <p:cNvSpPr/>
          <p:nvPr/>
        </p:nvSpPr>
        <p:spPr>
          <a:xfrm>
            <a:off x="6355080" y="2514600"/>
            <a:ext cx="5166000" cy="658080"/>
          </a:xfrm>
          <a:prstGeom prst="rect">
            <a:avLst/>
          </a:prstGeom>
          <a:solidFill>
            <a:srgbClr val="3532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17"/>
          <p:cNvSpPr/>
          <p:nvPr/>
        </p:nvSpPr>
        <p:spPr>
          <a:xfrm>
            <a:off x="6492240" y="25876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Trades executed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8"/>
          <p:cNvSpPr/>
          <p:nvPr/>
        </p:nvSpPr>
        <p:spPr>
          <a:xfrm>
            <a:off x="8412480" y="25603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370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19"/>
          <p:cNvSpPr/>
          <p:nvPr/>
        </p:nvSpPr>
        <p:spPr>
          <a:xfrm>
            <a:off x="6355080" y="3264480"/>
            <a:ext cx="5166000" cy="658080"/>
          </a:xfrm>
          <a:prstGeom prst="rect">
            <a:avLst/>
          </a:prstGeom>
          <a:solidFill>
            <a:srgbClr val="3532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20"/>
          <p:cNvSpPr/>
          <p:nvPr/>
        </p:nvSpPr>
        <p:spPr>
          <a:xfrm>
            <a:off x="6492240" y="3337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Volume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1"/>
          <p:cNvSpPr/>
          <p:nvPr/>
        </p:nvSpPr>
        <p:spPr>
          <a:xfrm>
            <a:off x="8412480" y="33102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4,526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22"/>
          <p:cNvSpPr/>
          <p:nvPr/>
        </p:nvSpPr>
        <p:spPr>
          <a:xfrm>
            <a:off x="6355080" y="4014360"/>
            <a:ext cx="5166000" cy="658080"/>
          </a:xfrm>
          <a:prstGeom prst="rect">
            <a:avLst/>
          </a:prstGeom>
          <a:solidFill>
            <a:srgbClr val="3532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23"/>
          <p:cNvSpPr/>
          <p:nvPr/>
        </p:nvSpPr>
        <p:spPr>
          <a:xfrm>
            <a:off x="6492240" y="408744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Realized PnL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24"/>
          <p:cNvSpPr/>
          <p:nvPr/>
        </p:nvSpPr>
        <p:spPr>
          <a:xfrm>
            <a:off x="8412480" y="406008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+$284,392.69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25"/>
          <p:cNvSpPr/>
          <p:nvPr/>
        </p:nvSpPr>
        <p:spPr>
          <a:xfrm>
            <a:off x="6355080" y="4763880"/>
            <a:ext cx="5166000" cy="658080"/>
          </a:xfrm>
          <a:prstGeom prst="rect">
            <a:avLst/>
          </a:prstGeom>
          <a:solidFill>
            <a:srgbClr val="3532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26"/>
          <p:cNvSpPr/>
          <p:nvPr/>
        </p:nvSpPr>
        <p:spPr>
          <a:xfrm>
            <a:off x="6492240" y="48373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Spread capture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27"/>
          <p:cNvSpPr/>
          <p:nvPr/>
        </p:nvSpPr>
        <p:spPr>
          <a:xfrm>
            <a:off x="8412480" y="480960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+$235,596.25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Rectangle 28"/>
          <p:cNvSpPr/>
          <p:nvPr/>
        </p:nvSpPr>
        <p:spPr>
          <a:xfrm>
            <a:off x="685800" y="5989320"/>
            <a:ext cx="11018160" cy="383760"/>
          </a:xfrm>
          <a:prstGeom prst="rect">
            <a:avLst/>
          </a:prstGeom>
          <a:solidFill>
            <a:srgbClr val="8C42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29"/>
          <p:cNvSpPr/>
          <p:nvPr/>
        </p:nvSpPr>
        <p:spPr>
          <a:xfrm>
            <a:off x="685800" y="6016680"/>
            <a:ext cx="110181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★  Event champion  ★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Rectangle 2"/>
          <p:cNvSpPr/>
          <p:nvPr/>
        </p:nvSpPr>
        <p:spPr>
          <a:xfrm>
            <a:off x="502920" y="6446520"/>
            <a:ext cx="11155320" cy="8640"/>
          </a:xfrm>
          <a:prstGeom prst="rect">
            <a:avLst/>
          </a:prstGeom>
          <a:solidFill>
            <a:srgbClr val="4A46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3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8726C"/>
                </a:solidFill>
                <a:effectLst/>
                <a:uFillTx/>
                <a:latin typeface="Segoe UI"/>
              </a:rPr>
              <a:t>Quantstorm · Final leaderboard · page 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4"/>
          <p:cNvSpPr/>
          <p:nvPr/>
        </p:nvSpPr>
        <p:spPr>
          <a:xfrm>
            <a:off x="685800" y="41148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Final leaderboard  ·  1 / 4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5"/>
          <p:cNvSpPr/>
          <p:nvPr/>
        </p:nvSpPr>
        <p:spPr>
          <a:xfrm>
            <a:off x="685800" y="932760"/>
            <a:ext cx="1645560" cy="36360"/>
          </a:xfrm>
          <a:prstGeom prst="rect">
            <a:avLst/>
          </a:prstGeom>
          <a:solidFill>
            <a:srgbClr val="E86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6"/>
          <p:cNvSpPr/>
          <p:nvPr/>
        </p:nvSpPr>
        <p:spPr>
          <a:xfrm>
            <a:off x="685800" y="10242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All traders ranked by final settlement score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2" name="Table 7"/>
          <p:cNvGraphicFramePr/>
          <p:nvPr/>
        </p:nvGraphicFramePr>
        <p:xfrm>
          <a:off x="685800" y="1371600"/>
          <a:ext cx="10835280" cy="4891680"/>
        </p:xfrm>
        <a:graphic>
          <a:graphicData uri="http://schemas.openxmlformats.org/drawingml/2006/table">
            <a:tbl>
              <a:tblPr/>
              <a:tblGrid>
                <a:gridCol w="685800"/>
                <a:gridCol w="6720840"/>
                <a:gridCol w="3429000"/>
              </a:tblGrid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#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Trader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Settlement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E8C46A"/>
                          </a:solidFill>
                          <a:effectLst/>
                          <a:uFillTx/>
                          <a:latin typeface="Segoe UI"/>
                        </a:rPr>
                        <a:t>1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Anav Agrawal  ·  @anavagrawal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+$499,595.28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C8CCD0"/>
                          </a:solidFill>
                          <a:effectLst/>
                          <a:uFillTx/>
                          <a:latin typeface="Segoe UI"/>
                        </a:rPr>
                        <a:t>2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Supratik Biswas  ·  @supratikbiswas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+$444,829.74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C98A5C"/>
                          </a:solidFill>
                          <a:effectLst/>
                          <a:uFillTx/>
                          <a:latin typeface="Segoe UI"/>
                        </a:rPr>
                        <a:t>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Satyam Kumar Singh  ·  @satyamkumarsingh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+$396,800.65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Namya Sheth  ·  @namyasheth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+$350,464.11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Pulkit  ·  @pulkit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+$349,453.54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Nikita Dhingra  ·  @nikitadhingra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+$343,083.86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Subham Goenka  ·  @subhamgoenka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+$335,636.01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8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Navneet Mathur  ·  @navneetmathur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+$259,317.92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9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Vrishab A V  ·  @vrishabav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+$236,865.81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10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Harpreet Singh  ·  @harpreetsingh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+$230,668.16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Rectangle 2"/>
          <p:cNvSpPr/>
          <p:nvPr/>
        </p:nvSpPr>
        <p:spPr>
          <a:xfrm>
            <a:off x="502920" y="6446520"/>
            <a:ext cx="11155320" cy="8640"/>
          </a:xfrm>
          <a:prstGeom prst="rect">
            <a:avLst/>
          </a:prstGeom>
          <a:solidFill>
            <a:srgbClr val="4A46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3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8726C"/>
                </a:solidFill>
                <a:effectLst/>
                <a:uFillTx/>
                <a:latin typeface="Segoe UI"/>
              </a:rPr>
              <a:t>Quantstorm · Final leaderboard · page 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4"/>
          <p:cNvSpPr/>
          <p:nvPr/>
        </p:nvSpPr>
        <p:spPr>
          <a:xfrm>
            <a:off x="685800" y="41148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Final leaderboard  ·  2 / 4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5"/>
          <p:cNvSpPr/>
          <p:nvPr/>
        </p:nvSpPr>
        <p:spPr>
          <a:xfrm>
            <a:off x="685800" y="932760"/>
            <a:ext cx="1645560" cy="36360"/>
          </a:xfrm>
          <a:prstGeom prst="rect">
            <a:avLst/>
          </a:prstGeom>
          <a:solidFill>
            <a:srgbClr val="E86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6"/>
          <p:cNvSpPr/>
          <p:nvPr/>
        </p:nvSpPr>
        <p:spPr>
          <a:xfrm>
            <a:off x="685800" y="10242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All traders ranked by final settlement score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9" name="Table 7"/>
          <p:cNvGraphicFramePr/>
          <p:nvPr/>
        </p:nvGraphicFramePr>
        <p:xfrm>
          <a:off x="685800" y="1371600"/>
          <a:ext cx="10835280" cy="4891680"/>
        </p:xfrm>
        <a:graphic>
          <a:graphicData uri="http://schemas.openxmlformats.org/drawingml/2006/table">
            <a:tbl>
              <a:tblPr/>
              <a:tblGrid>
                <a:gridCol w="685800"/>
                <a:gridCol w="6720840"/>
                <a:gridCol w="3429000"/>
              </a:tblGrid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#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Trader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Settlement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11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Akshay Jha  ·  @akshayjha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+$222,982.25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12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Hemant  ·  @hemant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+$215,758.26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13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Saksham Goyal  ·  @sakshamgoyal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+$213,714.32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14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Hem Viramgama  ·  @hemviramgama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+$210,783.43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15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Sanjiban Paul  ·  @sanjibanpaul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+$202,516.20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16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Shaurya Johari  ·  @shauryajohari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+$191,446.73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17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Vishu Khare  ·  @vishukhare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+$187,996.95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18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Vineel Reddy  ·  @vineelreddy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+$176,008.85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19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Archit Shukla  ·  @architshukla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+$164,213.02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20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Manogya Singh  ·  @manogyasingh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+$144,901.94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Rectangle 2"/>
          <p:cNvSpPr/>
          <p:nvPr/>
        </p:nvSpPr>
        <p:spPr>
          <a:xfrm>
            <a:off x="502920" y="6446520"/>
            <a:ext cx="11155320" cy="8640"/>
          </a:xfrm>
          <a:prstGeom prst="rect">
            <a:avLst/>
          </a:prstGeom>
          <a:solidFill>
            <a:srgbClr val="4A46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3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8726C"/>
                </a:solidFill>
                <a:effectLst/>
                <a:uFillTx/>
                <a:latin typeface="Segoe UI"/>
              </a:rPr>
              <a:t>Quantstorm · Final leaderboard · page 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4"/>
          <p:cNvSpPr/>
          <p:nvPr/>
        </p:nvSpPr>
        <p:spPr>
          <a:xfrm>
            <a:off x="685800" y="41148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Final leaderboard  ·  3 / 4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5"/>
          <p:cNvSpPr/>
          <p:nvPr/>
        </p:nvSpPr>
        <p:spPr>
          <a:xfrm>
            <a:off x="685800" y="932760"/>
            <a:ext cx="1645560" cy="36360"/>
          </a:xfrm>
          <a:prstGeom prst="rect">
            <a:avLst/>
          </a:prstGeom>
          <a:solidFill>
            <a:srgbClr val="E86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6"/>
          <p:cNvSpPr/>
          <p:nvPr/>
        </p:nvSpPr>
        <p:spPr>
          <a:xfrm>
            <a:off x="685800" y="10242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All traders ranked by final settlement score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6" name="Table 7"/>
          <p:cNvGraphicFramePr/>
          <p:nvPr/>
        </p:nvGraphicFramePr>
        <p:xfrm>
          <a:off x="685800" y="1371600"/>
          <a:ext cx="10835280" cy="4891680"/>
        </p:xfrm>
        <a:graphic>
          <a:graphicData uri="http://schemas.openxmlformats.org/drawingml/2006/table">
            <a:tbl>
              <a:tblPr/>
              <a:tblGrid>
                <a:gridCol w="685800"/>
                <a:gridCol w="6720840"/>
                <a:gridCol w="3429000"/>
              </a:tblGrid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#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Trader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Settlement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21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Tanav  ·  @tanav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+$143,484.02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22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Vansh Garg  ·  @vanshgarg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+$142,462.22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23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Aadit Jha  ·  @aaditjha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+$138,277.65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24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Pranav Patil  ·  @pranavpatil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+$135,446.60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25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Aradhya Goel  ·  @aradhyagoel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+$123,842.89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26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Yash Kumar  ·  @yashkumar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+$122,711.57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27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Stavya Bangalore  ·  @stavyabangalore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+$110,248.45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28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Deeptam Bhar  ·  @deeptambhar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+$108,156.04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29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Ansh Tiwari  ·  @anshtiwari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+$101,316.06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30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Pritvik Premkumar Shanmuga  ·  @pritvikpremkumarshanmuga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+$97,511.93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6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Rectangle 2"/>
          <p:cNvSpPr/>
          <p:nvPr/>
        </p:nvSpPr>
        <p:spPr>
          <a:xfrm>
            <a:off x="502920" y="6446520"/>
            <a:ext cx="11155320" cy="8640"/>
          </a:xfrm>
          <a:prstGeom prst="rect">
            <a:avLst/>
          </a:prstGeom>
          <a:solidFill>
            <a:srgbClr val="4A46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3"/>
          <p:cNvSpPr/>
          <p:nvPr/>
        </p:nvSpPr>
        <p:spPr>
          <a:xfrm>
            <a:off x="502920" y="65106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8726C"/>
                </a:solidFill>
                <a:effectLst/>
                <a:uFillTx/>
                <a:latin typeface="Segoe UI"/>
              </a:rPr>
              <a:t>Quantstorm · Final leaderboard · page 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4"/>
          <p:cNvSpPr/>
          <p:nvPr/>
        </p:nvSpPr>
        <p:spPr>
          <a:xfrm>
            <a:off x="685800" y="41148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2EEE8"/>
                </a:solidFill>
                <a:effectLst/>
                <a:uFillTx/>
                <a:latin typeface="Segoe UI"/>
              </a:rPr>
              <a:t>Final leaderboard  ·  4 / 4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Rectangle 5"/>
          <p:cNvSpPr/>
          <p:nvPr/>
        </p:nvSpPr>
        <p:spPr>
          <a:xfrm>
            <a:off x="685800" y="932760"/>
            <a:ext cx="1645560" cy="36360"/>
          </a:xfrm>
          <a:prstGeom prst="rect">
            <a:avLst/>
          </a:prstGeom>
          <a:solidFill>
            <a:srgbClr val="E86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6"/>
          <p:cNvSpPr/>
          <p:nvPr/>
        </p:nvSpPr>
        <p:spPr>
          <a:xfrm>
            <a:off x="685800" y="10242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8A098"/>
                </a:solidFill>
                <a:effectLst/>
                <a:uFillTx/>
                <a:latin typeface="Segoe UI"/>
              </a:rPr>
              <a:t>All traders ranked by final settlement score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3" name="Table 7"/>
          <p:cNvGraphicFramePr/>
          <p:nvPr/>
        </p:nvGraphicFramePr>
        <p:xfrm>
          <a:off x="685800" y="1371600"/>
          <a:ext cx="10835280" cy="4891680"/>
        </p:xfrm>
        <a:graphic>
          <a:graphicData uri="http://schemas.openxmlformats.org/drawingml/2006/table">
            <a:tbl>
              <a:tblPr/>
              <a:tblGrid>
                <a:gridCol w="685800"/>
                <a:gridCol w="6720840"/>
                <a:gridCol w="3429000"/>
              </a:tblGrid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#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Trader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Settlement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E3A36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31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Ayyam Parashar  ·  @ayyamparashar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+$84,463.56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32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Rahul Ranjan  ·  @rahulranjan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+$79,259.18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33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Nitin Maheshwari  ·  @nitinmaheshwari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+$75,159.16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34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Swarit Thakkar  ·  @swaritthakkar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+$65,468.97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35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Tattwa Shiwani  ·  @tattwashiwani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+$60,857.78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36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Kartikya  ·  @kartikya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5CC4A0"/>
                          </a:solidFill>
                          <a:effectLst/>
                          <a:uFillTx/>
                          <a:latin typeface="Segoe UI"/>
                        </a:rPr>
                        <a:t>+$27,977.61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37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Hrishikesh Pingle  ·  @hrishikeshpingle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E86A6A"/>
                          </a:solidFill>
                          <a:effectLst/>
                          <a:uFillTx/>
                          <a:latin typeface="Segoe UI"/>
                        </a:rPr>
                        <a:t>-$34,778.87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38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Rhishit Chheda  ·  @rhishitchheda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E86A6A"/>
                          </a:solidFill>
                          <a:effectLst/>
                          <a:uFillTx/>
                          <a:latin typeface="Segoe UI"/>
                        </a:rPr>
                        <a:t>-$62,954.23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39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Devansh  ·  @devansh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E86A6A"/>
                          </a:solidFill>
                          <a:effectLst/>
                          <a:uFillTx/>
                          <a:latin typeface="Segoe UI"/>
                        </a:rPr>
                        <a:t>-$184,558.43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2927"/>
                    </a:solidFill>
                  </a:tcPr>
                </a:tc>
              </a:tr>
              <a:tr h="4446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40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Segoe UI"/>
                        </a:rPr>
                        <a:t>Joel Bansal  ·  @joelbansal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E86A6A"/>
                          </a:solidFill>
                          <a:effectLst/>
                          <a:uFillTx/>
                          <a:latin typeface="Segoe UI"/>
                        </a:rPr>
                        <a:t>-$280,122.44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5322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LibreOffice/26.8.0.3$Linux_X86_64 LibreOffice_project/680$Build-3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2026-09-26T15:06:51Z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